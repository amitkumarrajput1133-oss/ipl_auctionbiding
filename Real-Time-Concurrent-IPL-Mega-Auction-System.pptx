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pline Sans Mono"/>
      <p:regular r:id="rId201318"/>
    </p:embeddedFont>
    <p:embeddedFont>
      <p:font typeface="Spline Sa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E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22262C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228600"/>
            <a:ext cx="695942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BABU BANARASI DAS UNIVERSITY · DEPARTMENT OF CSE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5591" y="675580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5" name="Text 3"/>
          <p:cNvSpPr/>
          <p:nvPr/>
        </p:nvSpPr>
        <p:spPr>
          <a:xfrm>
            <a:off x="355591" y="1290089"/>
            <a:ext cx="6603835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REAL-TIME CONCURRENT IPL MEGA AUCTION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55591" y="2465685"/>
            <a:ext cx="660383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High-throughput sub-second bidding with pessimistic locking and distributed invariant verification.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5591" y="3486646"/>
            <a:ext cx="695942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5591" y="3882827"/>
            <a:ext cx="69594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Java 17 · Spring Boot 3 · React 18 · STOMP / SockJS · MySQL 8 / JPA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5591" y="4304407"/>
            <a:ext cx="695942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TEAM · SYNTAX TERROR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591" y="4702810"/>
            <a:ext cx="6603835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Srijan Srivastava - 1240440037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Amit Kumar Rajput - 1240440008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Anshika Pandey - 1240440012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Akhilesh Sharma - 1240440006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Suryansh Pandey - 1240440039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5591" y="6218992"/>
            <a:ext cx="660383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B.Tech CSE (IoT &amp; Blockchain) · 5th Semester / 3rd Year</a:t>
            </a:r>
            <a:endParaRPr lang="en-US" sz="12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Academic Year 2025–2026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611" y="254000"/>
            <a:ext cx="4419489" cy="6042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017" y="6399272"/>
            <a:ext cx="487667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REAL-TIME IPL AUCTION ·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6642" y="6461125"/>
            <a:ext cx="3350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0383" y="509746"/>
            <a:ext cx="114805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6AC5B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 · PROBLEM &amp;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0383" y="883031"/>
            <a:ext cx="1087092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spc="-2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Why Live Auction Concurrency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0383" y="1511300"/>
            <a:ext cx="1148051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Protect financial state while many franchises bid at nearly the same moment.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585" y="2451100"/>
            <a:ext cx="5283068" cy="2260600"/>
          </a:xfrm>
          <a:prstGeom prst="rect">
            <a:avLst/>
          </a:prstGeom>
          <a:noFill/>
          <a:ln w="12700">
            <a:solidFill>
              <a:srgbClr val="4E50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278" y="2592546"/>
            <a:ext cx="53592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FF5B7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ENGINEERING CHALLENGES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6278" y="3021905"/>
            <a:ext cx="4749681" cy="1479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Competing bids can arrive within single-digit milliseconds.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Lost updates, duplicate increments and stale state.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Purse must never become negative.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Squad ≤ 25 players; overseas quota ≤ 8.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9042" y="2451100"/>
            <a:ext cx="5283068" cy="2260600"/>
          </a:xfrm>
          <a:prstGeom prst="rect">
            <a:avLst/>
          </a:prstGeom>
          <a:noFill/>
          <a:ln w="12700">
            <a:solidFill>
              <a:srgbClr val="4E50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736" y="2592546"/>
            <a:ext cx="53592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46E19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 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65736" y="3021905"/>
            <a:ext cx="4749681" cy="1221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Pessimistic row locking serializes critical updates.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ACID transactions protect financial invariants.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STOMP / SockJS synchronizes active terminals.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JWT + RBAC secures franchise and admin actions.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4902200"/>
            <a:ext cx="10972526" cy="1397000"/>
          </a:xfrm>
          <a:prstGeom prst="rect">
            <a:avLst/>
          </a:prstGeom>
          <a:solidFill>
            <a:srgbClr val="22262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377" y="5043646"/>
            <a:ext cx="584185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 AUCTION 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377" y="5473005"/>
            <a:ext cx="5232269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Deterministic bidding + synchronized state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across franchise terminals.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26039" y="5029200"/>
            <a:ext cx="2412940" cy="368300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EE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0943" y="5118100"/>
            <a:ext cx="274313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&lt; 50 MS TARGET SYNC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89778" y="5029200"/>
            <a:ext cx="2412940" cy="368300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EE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4682" y="5118100"/>
            <a:ext cx="274313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 CONCURRENT TEAMS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26039" y="5486400"/>
            <a:ext cx="2209745" cy="368300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EEF1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0943" y="5575300"/>
            <a:ext cx="253993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₹100 CR PURSE CAP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583" y="5486400"/>
            <a:ext cx="2209745" cy="368300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EEF1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21487" y="5575300"/>
            <a:ext cx="253993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 PURSE DEFICIT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99522" y="6438900"/>
            <a:ext cx="83817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591" y="304800"/>
            <a:ext cx="11480513" cy="5991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9" y="6399272"/>
            <a:ext cx="1209009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Presentation → Application → Real-Time → Data · Four-layer auction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161" cy="6858000"/>
          </a:xfrm>
          <a:prstGeom prst="rect">
            <a:avLst/>
          </a:prstGeom>
          <a:solidFill>
            <a:srgbClr val="2226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94" y="203200"/>
            <a:ext cx="5486263" cy="3505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594" y="4139483"/>
            <a:ext cx="6674973" cy="894556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50" spc="-27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Concurrent Bidding: Why Pessimistic Locking Wins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228594" y="5256127"/>
            <a:ext cx="6674973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database serializes the critical Player + Team Purse update before the bid changes state.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436855" y="0"/>
            <a:ext cx="4754840" cy="6858000"/>
          </a:xfrm>
          <a:prstGeom prst="rect">
            <a:avLst/>
          </a:prstGeom>
          <a:solidFill>
            <a:srgbClr val="22262C"/>
          </a:solidFill>
          <a:ln/>
        </p:spPr>
      </p:sp>
      <p:sp>
        <p:nvSpPr>
          <p:cNvPr id="7" name="Text 4"/>
          <p:cNvSpPr/>
          <p:nvPr/>
        </p:nvSpPr>
        <p:spPr>
          <a:xfrm>
            <a:off x="7665449" y="203200"/>
            <a:ext cx="4526246" cy="163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7" kern="100" dirty="0">
                <a:solidFill>
                  <a:srgbClr val="FFBE5C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 · CORE ENGINE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65449" y="582811"/>
            <a:ext cx="4297652" cy="163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7" kern="100" dirty="0">
                <a:solidFill>
                  <a:srgbClr val="FFBE5C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PESSIMISTIC LOCKING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65449" y="1169992"/>
            <a:ext cx="4297652" cy="23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SELECT ... FOR UPDATE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665449" y="1570150"/>
            <a:ext cx="4297652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contention makes explicit row locks safer than repeated retries.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65449" y="2354012"/>
            <a:ext cx="429765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1</a:t>
            </a:r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 Concurrent bids → row lock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65449" y="2706635"/>
            <a:ext cx="429765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46E199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</a:t>
            </a:r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 Validate → update + commit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65449" y="3059259"/>
            <a:ext cx="429765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FFBE5C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3</a:t>
            </a:r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 Broadcast the committed state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665449" y="3411882"/>
            <a:ext cx="429765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FF5B7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4</a:t>
            </a:r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 Execution completes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65449" y="3874095"/>
            <a:ext cx="4297553" cy="31651"/>
          </a:xfrm>
          <a:prstGeom prst="roundRect">
            <a:avLst>
              <a:gd name="adj" fmla="val 49998"/>
            </a:avLst>
          </a:prstGeom>
          <a:solidFill>
            <a:srgbClr val="F25F33"/>
          </a:solidFill>
          <a:ln/>
        </p:spPr>
      </p:sp>
      <p:sp>
        <p:nvSpPr>
          <p:cNvPr id="16" name="Text 13"/>
          <p:cNvSpPr/>
          <p:nvPr/>
        </p:nvSpPr>
        <p:spPr>
          <a:xfrm>
            <a:off x="7665449" y="4182273"/>
            <a:ext cx="1920232" cy="23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Pessimistic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665449" y="4581723"/>
            <a:ext cx="1920232" cy="2100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19000"/>
              </a:lnSpc>
              <a:buSzPct val="100000"/>
              <a:buChar char="•"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Safe resolution under contention.</a:t>
            </a:r>
            <a:endParaRPr lang="en-US" sz="1550" dirty="0"/>
          </a:p>
          <a:p>
            <a:pPr algn="l" marL="314960" indent="-314960">
              <a:lnSpc>
                <a:spcPct val="119000"/>
              </a:lnSpc>
              <a:buSzPct val="100000"/>
              <a:buChar char="•"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Explicit race prevention.</a:t>
            </a:r>
            <a:endParaRPr lang="en-US" sz="1550" dirty="0"/>
          </a:p>
          <a:p>
            <a:pPr algn="l" marL="314960" indent="-314960">
              <a:lnSpc>
                <a:spcPct val="119000"/>
              </a:lnSpc>
              <a:buSzPct val="100000"/>
              <a:buChar char="•"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Consistency before broadcast.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0042869" y="4182273"/>
            <a:ext cx="1920232" cy="23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Optimistic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0042869" y="4581723"/>
            <a:ext cx="1920232" cy="1817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19000"/>
              </a:lnSpc>
              <a:buSzPct val="100000"/>
              <a:buChar char="•"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Reads first, detects conflicts.</a:t>
            </a:r>
            <a:endParaRPr lang="en-US" sz="1550" dirty="0"/>
          </a:p>
          <a:p>
            <a:pPr algn="l" marL="314960" indent="-314960">
              <a:lnSpc>
                <a:spcPct val="119000"/>
              </a:lnSpc>
              <a:buSzPct val="100000"/>
              <a:buChar char="•"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Retries get expensive.</a:t>
            </a:r>
            <a:endParaRPr lang="en-US" sz="1550" dirty="0"/>
          </a:p>
          <a:p>
            <a:pPr algn="l" marL="314960" indent="-314960">
              <a:lnSpc>
                <a:spcPct val="119000"/>
              </a:lnSpc>
              <a:buSzPct val="100000"/>
              <a:buChar char="•"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Rollback storms delay bidding.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807925" y="4170164"/>
            <a:ext cx="12700" cy="2511921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1" name="Text 18"/>
          <p:cNvSpPr/>
          <p:nvPr/>
        </p:nvSpPr>
        <p:spPr>
          <a:xfrm>
            <a:off x="11852772" y="6461125"/>
            <a:ext cx="33892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152400"/>
            <a:ext cx="1203929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5A91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04 · REAL-TIME +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52396" y="442853"/>
            <a:ext cx="11886903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One Live State, Secured End-to-End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396" y="1200051"/>
            <a:ext cx="1203929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WebSocket messaging keeps terminals synchronized while JWT protects every connection.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1724184"/>
            <a:ext cx="1219169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Team → WebSocket → STOMP → Spring Boot → Auction Engine → Broadcast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2396" y="2157512"/>
            <a:ext cx="7040684" cy="4683423"/>
          </a:xfrm>
          <a:prstGeom prst="rect">
            <a:avLst/>
          </a:prstGeom>
          <a:solidFill>
            <a:srgbClr val="22262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2309912"/>
            <a:ext cx="5007544" cy="2793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4792" y="5307012"/>
            <a:ext cx="6735892" cy="10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Bid, leader and timer updates broadcast.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SOLD / UNSOLD transitions are pushed.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Purse balances stay synchronized.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792" y="6520954"/>
            <a:ext cx="688828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5A91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STOMP PUB/SUB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7773" y="2981523"/>
            <a:ext cx="454142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46E199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7773" y="3298329"/>
            <a:ext cx="4389030" cy="225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JWT carries franchise ID, privileges and expiry.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JWT is validated on WebSocket CONNECT.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ROLE_ADMIN controls lifecycle transitions.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ROLE_FRANCHISE is scoped to its team purse.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97773" y="5700117"/>
            <a:ext cx="1381388" cy="316805"/>
          </a:xfrm>
          <a:prstGeom prst="roundRect">
            <a:avLst>
              <a:gd name="adj" fmla="val 3608"/>
            </a:avLst>
          </a:prstGeom>
          <a:noFill/>
          <a:ln w="6350">
            <a:solidFill>
              <a:srgbClr val="6AC5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19611" y="5761038"/>
            <a:ext cx="174729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JWT + RBAC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80759" y="5700117"/>
            <a:ext cx="1836394" cy="316805"/>
          </a:xfrm>
          <a:prstGeom prst="roundRect">
            <a:avLst>
              <a:gd name="adj" fmla="val 3608"/>
            </a:avLst>
          </a:prstGeom>
          <a:noFill/>
          <a:ln w="6350">
            <a:solidFill>
              <a:srgbClr val="6AC5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02596" y="5761038"/>
            <a:ext cx="220230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STATELESS AUTH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50986" y="6461125"/>
            <a:ext cx="34070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228600"/>
            <a:ext cx="1188690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46E199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05 · DATA INTEGRITY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11433"/>
            <a:ext cx="11582110" cy="44063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22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Database Model, State Machine &amp; Edge Cases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792" y="1194633"/>
            <a:ext cx="1188690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Relational state and business rules constrain every accepted bid.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4792" y="1678781"/>
            <a:ext cx="5714857" cy="2267049"/>
          </a:xfrm>
          <a:prstGeom prst="roundRect">
            <a:avLst>
              <a:gd name="adj" fmla="val 504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390" y="1780381"/>
            <a:ext cx="561326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46E199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DATABASE MODEL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097187"/>
          <a:ext cx="5511662" cy="914400"/>
        </p:xfrm>
        <a:graphic>
          <a:graphicData uri="http://schemas.openxmlformats.org/drawingml/2006/table">
            <a:tbl>
              <a:tblPr/>
              <a:tblGrid>
                <a:gridCol w="1929062"/>
                <a:gridCol w="3582600"/>
              </a:tblGrid>
              <a:tr h="5865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Team</a:t>
                      </a:r>
                      <a:endParaRPr lang="en-US" sz="20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24" kern="10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purse · spending · overseasCount · squadSize</a:t>
                      </a:r>
                      <a:endParaRPr lang="en-US" sz="12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5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Player</a:t>
                      </a:r>
                      <a:endParaRPr lang="en-US" sz="20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24" kern="10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basePrice · currentBid · status · currentLeaderId</a:t>
                      </a:r>
                      <a:endParaRPr lang="en-US" sz="12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8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Bid History</a:t>
                      </a:r>
                      <a:endParaRPr lang="en-US" sz="20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24" kern="10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amount · timestamp · franchise ID · audit</a:t>
                      </a:r>
                      <a:endParaRPr lang="en-US" sz="12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72046" y="1678781"/>
            <a:ext cx="5714857" cy="2267049"/>
          </a:xfrm>
          <a:prstGeom prst="rect">
            <a:avLst/>
          </a:prstGeom>
          <a:solidFill>
            <a:srgbClr val="22262C"/>
          </a:solidFill>
          <a:ln/>
        </p:spPr>
      </p:sp>
      <p:sp>
        <p:nvSpPr>
          <p:cNvPr id="9" name="Text 6"/>
          <p:cNvSpPr/>
          <p:nvPr/>
        </p:nvSpPr>
        <p:spPr>
          <a:xfrm>
            <a:off x="6248244" y="1754981"/>
            <a:ext cx="563865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AUCTION STATE MACHINE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48244" y="2071787"/>
            <a:ext cx="556246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AVAILABLE</a:t>
            </a:r>
            <a:pPr algn="ctr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→ </a:t>
            </a:r>
            <a:pPr algn="ctr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LIVE</a:t>
            </a:r>
            <a:pPr algn="ctr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→ </a:t>
            </a:r>
            <a:pPr algn="ctr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SOLD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48244" y="2518767"/>
            <a:ext cx="556246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5B7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↓ UNSOLD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48244" y="2963525"/>
            <a:ext cx="563865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State transitions are controlled by the auction lifecycle.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4792" y="4174430"/>
            <a:ext cx="11582110" cy="2246908"/>
          </a:xfrm>
          <a:prstGeom prst="roundRect">
            <a:avLst>
              <a:gd name="adj" fmla="val 509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390" y="4276030"/>
            <a:ext cx="1148051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5B7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VALIDATION RULES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6390" y="4592836"/>
            <a:ext cx="11378915" cy="172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Purse overdraft → reject.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Current leader self-bump → reject.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Squad ceiling 25; overseas ceiling 8.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Timer expired or not LIVE → reject.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Foreign key keeps Player.currentLeaderId linked to Team.id.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54161" y="6461125"/>
            <a:ext cx="3375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97" y="127000"/>
            <a:ext cx="1206469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A671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06 · VALIDATION &amp; 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6997" y="417453"/>
            <a:ext cx="11937701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Testing, Team Ownership &amp; Demo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6997" y="1174651"/>
            <a:ext cx="1206469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Evidence, ownership and a short live path for the defense.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2112367"/>
            <a:ext cx="3996233" cy="4745633"/>
          </a:xfrm>
          <a:prstGeom prst="rect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396" y="2264767"/>
            <a:ext cx="384383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A671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TESTING &amp; DELIVERY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2396" y="2660948"/>
            <a:ext cx="3691440" cy="172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JUnit 5 integration tests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Mockito mock suites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Automated Postman collection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OpenAPI 3 / Swagger UI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Balance and timer-expiry checks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97731" y="2112367"/>
            <a:ext cx="4395876" cy="4745633"/>
          </a:xfrm>
          <a:prstGeom prst="rect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0127" y="2264767"/>
            <a:ext cx="424348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46E199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TEAM OWNERSHIP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0127" y="2660948"/>
            <a:ext cx="4091084" cy="172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Srijan — Core Backend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Amit — Security &amp; Auth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Akhilesh — Frontend &amp; UI Lead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Anshika — Database &amp; Bidding Engine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Suryansh — QA, Testing &amp; Docs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95105" y="2112367"/>
            <a:ext cx="3596590" cy="4745633"/>
          </a:xfrm>
          <a:prstGeom prst="rect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47501" y="2264767"/>
            <a:ext cx="344419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BE52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74498" y="2787948"/>
            <a:ext cx="355591" cy="355600"/>
          </a:xfrm>
          <a:prstGeom prst="ellipse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9730" y="2864148"/>
            <a:ext cx="69471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33284" y="2819698"/>
            <a:ext cx="26060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Admin starts auction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74498" y="3499148"/>
            <a:ext cx="355591" cy="355600"/>
          </a:xfrm>
          <a:prstGeom prst="ellipse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9490" y="3575348"/>
            <a:ext cx="7350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33284" y="3530898"/>
            <a:ext cx="26060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Open CSK + MI terminals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74498" y="4210348"/>
            <a:ext cx="355591" cy="355600"/>
          </a:xfrm>
          <a:prstGeom prst="ellipse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86315" y="4286548"/>
            <a:ext cx="74154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33284" y="4242098"/>
            <a:ext cx="26060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Fire competing bids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74498" y="4921548"/>
            <a:ext cx="355591" cy="355600"/>
          </a:xfrm>
          <a:prstGeom prst="ellipse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6910" y="4997748"/>
            <a:ext cx="74035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33284" y="4953298"/>
            <a:ext cx="247901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Hammer → verify purse + roster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47501" y="5898059"/>
            <a:ext cx="344419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ROADMAP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47501" y="6295192"/>
            <a:ext cx="329179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Redis Pub/Sub · Redisson Locks · AI Proxy Bidding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58428" y="6461125"/>
            <a:ext cx="33326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93" y="254000"/>
            <a:ext cx="685276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9393" y="700980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4" name="Text 2"/>
          <p:cNvSpPr/>
          <p:nvPr/>
        </p:nvSpPr>
        <p:spPr>
          <a:xfrm>
            <a:off x="279393" y="1253180"/>
            <a:ext cx="6573375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Questions &amp; Technical Discussion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9393" y="2428776"/>
            <a:ext cx="657337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Deterministic concurrency keeps live bidding consistent, secure and synchronized.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9393" y="3246537"/>
            <a:ext cx="2089495" cy="1347291"/>
          </a:xfrm>
          <a:prstGeom prst="roundRect">
            <a:avLst>
              <a:gd name="adj" fmla="val 848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387" y="3511014"/>
            <a:ext cx="158150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&lt; 50ms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387" y="3929420"/>
            <a:ext cx="158150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STOMP synchronization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21284" y="3246537"/>
            <a:ext cx="2089495" cy="1347291"/>
          </a:xfrm>
          <a:prstGeom prst="roundRect">
            <a:avLst>
              <a:gd name="adj" fmla="val 848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5277" y="3511014"/>
            <a:ext cx="158150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6E199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 Deficit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75277" y="3929420"/>
            <a:ext cx="158150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pessimistic row lock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63175" y="3246537"/>
            <a:ext cx="2089594" cy="1347291"/>
          </a:xfrm>
          <a:prstGeom prst="roundRect">
            <a:avLst>
              <a:gd name="adj" fmla="val 848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7168" y="3511014"/>
            <a:ext cx="158160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BE52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10 Teams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17168" y="3929420"/>
            <a:ext cx="158160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concurrent war rooms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393" y="4823381"/>
            <a:ext cx="657337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Achievements: deterministic concurrency · JWT + RBAC · synchronized auction state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5449" y="228600"/>
            <a:ext cx="4292493" cy="584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2026-10-08T18:35:18Z</dcterms:created>
  <dcterms:modified xsi:type="dcterms:W3CDTF">2026-10-08T18:35:18Z</dcterms:modified>
</cp:coreProperties>
</file>