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91840" y="822960"/>
            <a:ext cx="5608015" cy="38404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BABU BANARASI DAS UNIVERSITY  |  MINOR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971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REAL-TIME IPL MEGA AUCTION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99971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High-Concurrency Bidding Engine  |  Pessimistic Locking  |  STOMP WebSockets  |  Spring Boot 3 &amp;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99971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TEAM: SYNTAX TERROR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474720"/>
            <a:ext cx="192024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MEMBER 1</a:t>
            </a:r>
          </a:p>
          <a:p>
            <a:br/>
            <a:pPr algn="ctr">
              <a:defRPr sz="950" b="1">
                <a:solidFill>
                  <a:srgbClr val="0F172A"/>
                </a:solidFill>
              </a:defRPr>
            </a:pPr>
            <a:r>
              <a:t>Project Lead &amp;</a:t>
            </a:r>
            <a:br/>
            <a:r>
              <a:t>Core Backend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3474720"/>
            <a:ext cx="192024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MEMBER 2</a:t>
            </a:r>
          </a:p>
          <a:p>
            <a:br/>
            <a:pPr algn="ctr">
              <a:defRPr sz="950" b="1">
                <a:solidFill>
                  <a:srgbClr val="0F172A"/>
                </a:solidFill>
              </a:defRPr>
            </a:pPr>
            <a:r>
              <a:t>Security &amp; Auth</a:t>
            </a:r>
            <a:br/>
            <a:r>
              <a:t>Specialist (JWT)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474720"/>
            <a:ext cx="192024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7C3AED"/>
                </a:solidFill>
              </a:defRPr>
            </a:pPr>
            <a:r>
              <a:t>MEMBER 3</a:t>
            </a:r>
          </a:p>
          <a:p>
            <a:br/>
            <a:pPr algn="ctr">
              <a:defRPr sz="950" b="1">
                <a:solidFill>
                  <a:srgbClr val="0F172A"/>
                </a:solidFill>
              </a:defRPr>
            </a:pPr>
            <a:r>
              <a:t>Database Schema &amp;</a:t>
            </a:r>
            <a:br/>
            <a:r>
              <a:t>Concurrency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474720"/>
            <a:ext cx="192024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MEMBER 4</a:t>
            </a:r>
          </a:p>
          <a:p>
            <a:br/>
            <a:pPr algn="ctr">
              <a:defRPr sz="950" b="1">
                <a:solidFill>
                  <a:srgbClr val="0F172A"/>
                </a:solidFill>
              </a:defRPr>
            </a:pPr>
            <a:r>
              <a:t>Frontend UI &amp;</a:t>
            </a:r>
            <a:br/>
            <a:r>
              <a:t>CSS Design Lead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3474720"/>
            <a:ext cx="1920240" cy="2468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MEMBER 5</a:t>
            </a:r>
          </a:p>
          <a:p>
            <a:br/>
            <a:pPr algn="ctr">
              <a:defRPr sz="950" b="1">
                <a:solidFill>
                  <a:srgbClr val="0F172A"/>
                </a:solidFill>
              </a:defRPr>
            </a:pPr>
            <a:r>
              <a:t>WebSockets &amp;</a:t>
            </a:r>
            <a:br/>
            <a:r>
              <a:t>QA Testing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IDEA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Proposed Solution &amp; Real-Time Engine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7315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2/6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Team: Syntax Terror  |  Babu Banarasi Das University  |  Minor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949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_problem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76656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3258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INNOVATION &amp; CORE USP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✔ Event-Driven STOMP Sockets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Sub-50ms latency replaces traditional 2-5s HTTP polling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✔ Pessimistic DB Row Locking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SELECT ... FOR UPDATE eliminates millisecond bidding race conditions.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605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✔ Atomic Purse Balance Guard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Strict in-transaction checks mathematically prevent Rs 120 Cr cap breaches.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6636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2120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✔ Stateless JWT Security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Zero session memory overhead; tamper-proof HMAC-SHA256 signature.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Technical Approach &amp; 4-Tier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7315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3/6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Team: Syntax Terror  |  Babu Banarasi Das University  |  Minor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949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76656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3258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D97706"/>
                </a:solidFill>
              </a:defRPr>
            </a:pPr>
            <a:r>
              <a:t>TECHNOLOGY STACK &amp; METHODOLOGY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▶ Backend Core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Java 17 LTS, Spring Boot 3.2, Spring MVC, HikariCP pool, Maven.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▶ Frontend SPA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React 18 + Vite, custom HSL styling, Cyber Stadium UI, Lucide icons.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605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▶ Real-Time Messaging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SockJS &amp; STOMP Protocol, SimpMessagingTemplate (/topic/bids).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6636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2120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▶ Persistence &amp; Security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MySQL 8 / In-Memory H2, Spring Security 6 (JWT + BCrypt), JPA 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FEASIBILITY &amp;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Feasibility, Concurrency Risks &amp; Engineering Strategies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7315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4/6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Team: Syntax Terror  |  Babu Banarasi Das University  |  Minor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949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_concurrency_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76656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3258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RISK MITIGATION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🛡 Risk 1: Millisecond Collisions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Mitigation: Pessimistic Row Locking forces incoming bids into a serialized queue without retry storms.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🛡 Risk 2: Network Dropouts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Mitigation: SockJS auto-reconnects with exponential backoff and re-fetches latest auction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605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🛡 Risk 3: Purse Balance Overdraw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Mitigation: Strict in-transaction purse decrement and database constraints ensure zero overruns.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6636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2120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🛡 Risk 4: Token Impersonation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Mitigation: Cryptographic HMAC-SHA256 tokens validated on both HTTP &amp; STOMP 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System Performance Benchmarks &amp; Measurable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7315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5/6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Team: Syntax Terror  |  Babu Banarasi Das University  |  Minor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9494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76656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325880"/>
            <a:ext cx="365760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6304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OPERATIONAL &amp; DOMAIN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0574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0F172A"/>
                </a:solidFill>
              </a:defRPr>
            </a:pPr>
            <a:r>
              <a:t>★ 100% Financial Integrity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Eliminates multi-crore reconciliation errors and salary cap disputes in high-stakes auctions.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06324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10896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0F172A"/>
                </a:solidFill>
              </a:defRPr>
            </a:pPr>
            <a:r>
              <a:t>★ Fair &amp; Real-Time Bidding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Sub-50ms synchronized price broadcast ensures equal bidding opportunities for all franchises.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1480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16052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0F172A"/>
                </a:solidFill>
              </a:defRPr>
            </a:pPr>
            <a:r>
              <a:t>★ Automated Compliance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Dynamically enforces squad capacity (18-25 players) and overseas quotas (max 8)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5166360"/>
            <a:ext cx="329184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521208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 b="1">
                <a:solidFill>
                  <a:srgbClr val="0F172A"/>
                </a:solidFill>
              </a:defRPr>
            </a:pPr>
            <a:r>
              <a:t>★ Containerized Turnkey Deploy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Production-ready Docker Compose stack enables one-command cloud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3474720" cy="320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2563EB"/>
                </a:solidFill>
              </a:defRPr>
            </a:pPr>
            <a:r>
              <a:t>RESEARCH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0F172A"/>
                </a:solidFill>
              </a:defRPr>
            </a:pPr>
            <a:r>
              <a:t>Research References, Standards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320040"/>
            <a:ext cx="731520" cy="3200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75569"/>
                </a:solidFill>
              </a:defRPr>
            </a:pPr>
            <a:r>
              <a:t>6/6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Team: Syntax Terror  |  Babu Banarasi Das University  |  Minor Project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62179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60350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325880"/>
            <a:ext cx="438912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4023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RESEARCH &amp; PROTOCOL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011680"/>
            <a:ext cx="402336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0574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📖 RFC 6455 &amp; STOMP 1.2 Protocol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Standards for full-duplex client-server TCP communication over WebSockets.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926080"/>
            <a:ext cx="402336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9718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📖 RFC 7519 (JSON Web Tokens)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Stateless, cryptographic HMAC-SHA256 authorization standards.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840480"/>
            <a:ext cx="402336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38862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📖 ANSI/ISO SQL Transaction Isolation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Concurrency control and Pessimistic Row Locking (SELECT ... FOR UPDATE).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54880"/>
            <a:ext cx="4023360" cy="84124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4800600"/>
            <a:ext cx="3840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📖 Spring Boot &amp; React Ecosystems</a:t>
            </a:r>
          </a:p>
          <a:p>
            <a:pPr>
              <a:defRPr sz="819">
                <a:solidFill>
                  <a:srgbClr val="475569"/>
                </a:solidFill>
              </a:defRPr>
            </a:pPr>
            <a:r>
              <a:t>Spring Security 6 architecture, Hibernate 6 ORM, and React 18 Concurrent Mode.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5623560"/>
            <a:ext cx="4023360" cy="5486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READY FOR LIVE SYSTEM DEMONSTRATION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